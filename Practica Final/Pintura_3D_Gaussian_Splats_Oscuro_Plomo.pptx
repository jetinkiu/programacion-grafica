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18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17.xml.rels" ContentType="application/vnd.openxmlformats-package.relationships+xml"/>
  <Override PartName="/ppt/slides/_rels/slide3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</p:sldIdLst>
  <p:sldSz cx="14630400" cy="82296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D08095F-9691-494C-9781-6DA3E916AA7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596CF95-2678-427C-B621-37411A961B6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C97DB8CA-AED3-4387-A8A2-5813A4E5B91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8129027A-8452-458E-96CD-2EDA8A24D93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A1B6684C-C791-4351-8926-894F6DDD17F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B9C0938B-C202-4FDE-AD42-6F098C33726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329C2771-999C-402A-A1D3-955EDE32BFE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995245B6-54B5-4349-BD55-FBE5D99B51E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88159E8A-A974-4234-8AC0-9EED9FE4418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81E9FC61-CB89-4088-B677-65C41196070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4915F5AB-2940-451C-B1A3-D00B92CAFB6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2C49B7C-2F6F-4ECE-AD74-64FA99B40B1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CCBD785-1397-4CE9-AA78-7476DE1743C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B8E3323-3B7A-4153-BB84-1FB48C1F464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2AFD007-DD84-47DA-83EC-F36999C1A73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51E31E4-3A51-4B73-8CF5-DBA568AA001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37406B6-5FCF-4CC8-B266-2D160828EF2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6F3BC53-AA2E-4158-97E4-B725C6DE4D9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1F463FC-D210-4675-91D0-F4F96879D33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930747D-C821-40A9-83E5-BE6294C1D33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0FD511C-90D5-43AF-A464-2B410237C49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BD330D5-9C74-4C5B-B24F-37535A19FF3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9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Box 1"/>
          <p:cNvSpPr/>
          <p:nvPr/>
        </p:nvSpPr>
        <p:spPr>
          <a:xfrm>
            <a:off x="457200" y="457200"/>
            <a:ext cx="10287000" cy="146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500" spc="-1" strike="noStrike">
                <a:solidFill>
                  <a:srgbClr val="ffd700"/>
                </a:solidFill>
                <a:latin typeface="Calibri"/>
              </a:rPr>
              <a:t>Pintura 3D con Pinceles de Gaussian Splats 🎨</a:t>
            </a:r>
            <a:endParaRPr b="0" lang="en-US" sz="4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TextBox 2"/>
          <p:cNvSpPr/>
          <p:nvPr/>
        </p:nvSpPr>
        <p:spPr>
          <a:xfrm>
            <a:off x="640080" y="1645920"/>
            <a:ext cx="11932920" cy="49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4320" rIns="90000" tIns="18288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4400" spc="-1" strike="noStrike">
                <a:solidFill>
                  <a:srgbClr val="e6e6e6"/>
                </a:solidFill>
                <a:latin typeface="Segoe UI"/>
              </a:rPr>
              <a:t>Primer sistema interactivo que permite **pintar en 3D** usando fragmentos reales de geometría y textura capturados del mundo real. 🖌️✨</a:t>
            </a:r>
            <a:br>
              <a:rPr sz="4400"/>
            </a:br>
            <a:br>
              <a:rPr sz="4400"/>
            </a:br>
            <a:r>
              <a:rPr b="0" lang="en-US" sz="4400" spc="-1" strike="noStrike">
                <a:solidFill>
                  <a:srgbClr val="e6e6e6"/>
                </a:solidFill>
                <a:latin typeface="Segoe UI"/>
              </a:rPr>
              <a:t>Convierte datos 3D en un medio artístico completamente editable.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Box 1"/>
          <p:cNvSpPr/>
          <p:nvPr/>
        </p:nvSpPr>
        <p:spPr>
          <a:xfrm>
            <a:off x="457200" y="457200"/>
            <a:ext cx="1371600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800" spc="-1" strike="noStrike">
                <a:solidFill>
                  <a:srgbClr val="ffd700"/>
                </a:solidFill>
                <a:latin typeface="Calibri"/>
              </a:rPr>
              <a:t>¿Qué puedes hacer con este sistema? 🛠️</a:t>
            </a:r>
            <a:endParaRPr b="0" lang="en-US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TextBox 2"/>
          <p:cNvSpPr/>
          <p:nvPr/>
        </p:nvSpPr>
        <p:spPr>
          <a:xfrm>
            <a:off x="2057400" y="1828800"/>
            <a:ext cx="10972440" cy="461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4320" rIns="90000" tIns="18288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3600" spc="-1" strike="noStrike">
                <a:solidFill>
                  <a:srgbClr val="e6e6e6"/>
                </a:solidFill>
                <a:latin typeface="Segoe UI"/>
              </a:rPr>
              <a:t>• </a:t>
            </a:r>
            <a:r>
              <a:rPr b="0" lang="en-US" sz="3600" spc="-1" strike="noStrike">
                <a:solidFill>
                  <a:srgbClr val="e6e6e6"/>
                </a:solidFill>
                <a:latin typeface="Segoe UI"/>
              </a:rPr>
              <a:t>Colocar, deformar y combinar fragmentos 3D como si fueran pinceladas reales 🌿</a:t>
            </a:r>
            <a:br>
              <a:rPr sz="3600"/>
            </a:br>
            <a:r>
              <a:rPr b="0" lang="en-US" sz="3600" spc="-1" strike="noStrike">
                <a:solidFill>
                  <a:srgbClr val="e6e6e6"/>
                </a:solidFill>
                <a:latin typeface="Segoe UI"/>
              </a:rPr>
              <a:t>• Editar escenas capturadas (bosques, objetos, interiores) con control directo y preciso 🎯</a:t>
            </a:r>
            <a:br>
              <a:rPr sz="3600"/>
            </a:br>
            <a:r>
              <a:rPr b="0" lang="en-US" sz="3600" spc="-1" strike="noStrike">
                <a:solidFill>
                  <a:srgbClr val="e6e6e6"/>
                </a:solidFill>
                <a:latin typeface="Segoe UI"/>
              </a:rPr>
              <a:t>• Superar limitaciones de NeRF y métodos basados en IA generativa 🚀</a:t>
            </a:r>
            <a:br>
              <a:rPr sz="3600"/>
            </a:br>
            <a:br>
              <a:rPr sz="3600"/>
            </a:br>
            <a:r>
              <a:rPr b="0" lang="en-US" sz="3600" spc="-1" strike="noStrike">
                <a:solidFill>
                  <a:srgbClr val="e6e6e6"/>
                </a:solidFill>
                <a:latin typeface="Segoe UI"/>
              </a:rPr>
              <a:t>Datos reales → Medio artístico editable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Box 1"/>
          <p:cNvSpPr/>
          <p:nvPr/>
        </p:nvSpPr>
        <p:spPr>
          <a:xfrm>
            <a:off x="457200" y="457200"/>
            <a:ext cx="822924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ffd700"/>
                </a:solidFill>
                <a:latin typeface="Calibri"/>
              </a:rPr>
              <a:t>Base técnica – 3D Gaussian Splatting (3DGS) ⚪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TextBox 2"/>
          <p:cNvSpPr/>
          <p:nvPr/>
        </p:nvSpPr>
        <p:spPr>
          <a:xfrm>
            <a:off x="1829160" y="1143000"/>
            <a:ext cx="12344040" cy="693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4320" rIns="90000" tIns="18288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4000" spc="-1" strike="noStrike">
                <a:solidFill>
                  <a:srgbClr val="e6e6e6"/>
                </a:solidFill>
                <a:latin typeface="Segoe UI"/>
              </a:rPr>
              <a:t>Representación 3D con millones de “gotas” elipsoidales gaussianas 🌫️</a:t>
            </a:r>
            <a:br>
              <a:rPr sz="4000"/>
            </a:br>
            <a:br>
              <a:rPr sz="4000"/>
            </a:br>
            <a:r>
              <a:rPr b="0" lang="en-US" sz="4000" spc="-1" strike="noStrike">
                <a:solidFill>
                  <a:srgbClr val="e6e6e6"/>
                </a:solidFill>
                <a:latin typeface="Segoe UI"/>
              </a:rPr>
              <a:t>Cada gaussiana tiene:</a:t>
            </a:r>
            <a:br>
              <a:rPr sz="4000"/>
            </a:br>
            <a:r>
              <a:rPr b="0" lang="en-US" sz="4000" spc="-1" strike="noStrike">
                <a:solidFill>
                  <a:srgbClr val="e6e6e6"/>
                </a:solidFill>
                <a:latin typeface="Segoe UI"/>
              </a:rPr>
              <a:t>• Posición 3D</a:t>
            </a:r>
            <a:br>
              <a:rPr sz="4000"/>
            </a:br>
            <a:r>
              <a:rPr b="0" lang="en-US" sz="4000" spc="-1" strike="noStrike">
                <a:solidFill>
                  <a:srgbClr val="e6e6e6"/>
                </a:solidFill>
                <a:latin typeface="Segoe UI"/>
              </a:rPr>
              <a:t>• Color (SH esféricos)</a:t>
            </a:r>
            <a:br>
              <a:rPr sz="4000"/>
            </a:br>
            <a:r>
              <a:rPr b="0" lang="en-US" sz="4000" spc="-1" strike="noStrike">
                <a:solidFill>
                  <a:srgbClr val="e6e6e6"/>
                </a:solidFill>
                <a:latin typeface="Segoe UI"/>
              </a:rPr>
              <a:t>• Opacidad</a:t>
            </a:r>
            <a:br>
              <a:rPr sz="4000"/>
            </a:br>
            <a:r>
              <a:rPr b="0" lang="en-US" sz="4000" spc="-1" strike="noStrike">
                <a:solidFill>
                  <a:srgbClr val="e6e6e6"/>
                </a:solidFill>
                <a:latin typeface="Segoe UI"/>
              </a:rPr>
              <a:t>• Escala y rotación</a:t>
            </a:r>
            <a:br>
              <a:rPr sz="4000"/>
            </a:br>
            <a:br>
              <a:rPr sz="4000"/>
            </a:br>
            <a:r>
              <a:rPr b="0" lang="en-US" sz="4000" spc="-1" strike="noStrike">
                <a:solidFill>
                  <a:srgbClr val="e6e6e6"/>
                </a:solidFill>
                <a:latin typeface="Segoe UI"/>
              </a:rPr>
              <a:t>→ Renderizado en tiempo real + apariencia fotorrealista ⚡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Box 1"/>
          <p:cNvSpPr/>
          <p:nvPr/>
        </p:nvSpPr>
        <p:spPr>
          <a:xfrm>
            <a:off x="457200" y="457200"/>
            <a:ext cx="82292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ffd700"/>
                </a:solidFill>
                <a:latin typeface="Calibri"/>
              </a:rPr>
              <a:t>La gran idea – Pinceles 3D reales 🖌️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TextBox 2"/>
          <p:cNvSpPr/>
          <p:nvPr/>
        </p:nvSpPr>
        <p:spPr>
          <a:xfrm>
            <a:off x="640080" y="1645920"/>
            <a:ext cx="13533120" cy="534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4320" rIns="90000" tIns="18288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4200" spc="-1" strike="noStrike">
                <a:solidFill>
                  <a:srgbClr val="e6e6e6"/>
                </a:solidFill>
                <a:latin typeface="Segoe UI"/>
              </a:rPr>
              <a:t>Un pincel = selección de gaussianas de una escena real ✂️</a:t>
            </a:r>
            <a:br>
              <a:rPr sz="4200"/>
            </a:br>
            <a:br>
              <a:rPr sz="4200"/>
            </a:br>
            <a:r>
              <a:rPr b="0" lang="en-US" sz="4200" spc="-1" strike="noStrike">
                <a:solidFill>
                  <a:srgbClr val="e6e6e6"/>
                </a:solidFill>
                <a:latin typeface="Segoe UI"/>
              </a:rPr>
              <a:t>No es una textura 2D → es un fragmento con **geometría, volumen y detalles reales** 📦</a:t>
            </a:r>
            <a:br>
              <a:rPr sz="4200"/>
            </a:br>
            <a:br>
              <a:rPr sz="4200"/>
            </a:br>
            <a:r>
              <a:rPr b="0" lang="en-US" sz="4200" spc="-1" strike="noStrike">
                <a:solidFill>
                  <a:srgbClr val="e6e6e6"/>
                </a:solidFill>
                <a:latin typeface="Segoe UI"/>
              </a:rPr>
              <a:t>Ejemplos: hoja, trozo de corteza, mechón de hierba, musgo… capturados directamente del mundo 🌱</a:t>
            </a:r>
            <a:endParaRPr b="0" lang="en-US" sz="4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Box 1"/>
          <p:cNvSpPr/>
          <p:nvPr/>
        </p:nvSpPr>
        <p:spPr>
          <a:xfrm>
            <a:off x="457200" y="457200"/>
            <a:ext cx="822924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ffd700"/>
                </a:solidFill>
                <a:latin typeface="Calibri"/>
              </a:rPr>
              <a:t>Cómo se pinta – Sistema de Sellos (Stamping) 🏷️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TextBox 2"/>
          <p:cNvSpPr/>
          <p:nvPr/>
        </p:nvSpPr>
        <p:spPr>
          <a:xfrm>
            <a:off x="640080" y="1645920"/>
            <a:ext cx="10972440" cy="571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4320" rIns="90000" tIns="18288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4000" spc="-1" strike="noStrike">
                <a:solidFill>
                  <a:srgbClr val="e6e6e6"/>
                </a:solidFill>
                <a:latin typeface="Segoe UI"/>
              </a:rPr>
              <a:t>Pintas trazando curvas → el sistema coloca “sellos” a lo largo del trazo</a:t>
            </a:r>
            <a:br>
              <a:rPr sz="4000"/>
            </a:br>
            <a:br>
              <a:rPr sz="4000"/>
            </a:br>
            <a:r>
              <a:rPr b="0" lang="en-US" sz="4000" spc="-1" strike="noStrike">
                <a:solidFill>
                  <a:srgbClr val="e6e6e6"/>
                </a:solidFill>
                <a:latin typeface="Segoe UI"/>
              </a:rPr>
              <a:t>Cada sello se puede:</a:t>
            </a:r>
            <a:br>
              <a:rPr sz="4000"/>
            </a:br>
            <a:r>
              <a:rPr b="0" lang="en-US" sz="4000" spc="-1" strike="noStrike">
                <a:solidFill>
                  <a:srgbClr val="e6e6e6"/>
                </a:solidFill>
                <a:latin typeface="Segoe UI"/>
              </a:rPr>
              <a:t>• Rotar, escalar, deformar</a:t>
            </a:r>
            <a:br>
              <a:rPr sz="4000"/>
            </a:br>
            <a:r>
              <a:rPr b="0" lang="en-US" sz="4000" spc="-1" strike="noStrike">
                <a:solidFill>
                  <a:srgbClr val="e6e6e6"/>
                </a:solidFill>
                <a:latin typeface="Segoe UI"/>
              </a:rPr>
              <a:t>• Aplicar jitter (dispersión aleatoria)</a:t>
            </a:r>
            <a:br>
              <a:rPr sz="4000"/>
            </a:br>
            <a:br>
              <a:rPr sz="4000"/>
            </a:br>
            <a:r>
              <a:rPr b="0" lang="en-US" sz="4000" spc="-1" strike="noStrike">
                <a:solidFill>
                  <a:srgbClr val="e6e6e6"/>
                </a:solidFill>
                <a:latin typeface="Segoe UI"/>
              </a:rPr>
              <a:t>Flujo de trabajo artístico 100% intuitivo y en tiempo real ⚡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extBox 1"/>
          <p:cNvSpPr/>
          <p:nvPr/>
        </p:nvSpPr>
        <p:spPr>
          <a:xfrm>
            <a:off x="640080" y="276120"/>
            <a:ext cx="13258800" cy="155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800" spc="-1" strike="noStrike">
                <a:solidFill>
                  <a:srgbClr val="ffd700"/>
                </a:solidFill>
                <a:latin typeface="Calibri"/>
              </a:rPr>
              <a:t>Evitar el “copy-paste” visible – Inpainting automático 🧵</a:t>
            </a:r>
            <a:endParaRPr b="0" lang="en-US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TextBox 2"/>
          <p:cNvSpPr/>
          <p:nvPr/>
        </p:nvSpPr>
        <p:spPr>
          <a:xfrm>
            <a:off x="640080" y="1645920"/>
            <a:ext cx="13304520" cy="571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4320" rIns="90000" tIns="18288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4000" spc="-1" strike="noStrike">
                <a:solidFill>
                  <a:srgbClr val="e6e6e6"/>
                </a:solidFill>
                <a:latin typeface="Segoe UI"/>
              </a:rPr>
              <a:t>Cuando los sellos se solapan → se detectan costuras</a:t>
            </a:r>
            <a:br>
              <a:rPr sz="4000"/>
            </a:br>
            <a:br>
              <a:rPr sz="4000"/>
            </a:br>
            <a:r>
              <a:rPr b="0" lang="en-US" sz="4000" spc="-1" strike="noStrike">
                <a:solidFill>
                  <a:srgbClr val="e6e6e6"/>
                </a:solidFill>
                <a:latin typeface="Segoe UI"/>
              </a:rPr>
              <a:t>Un modelo de difusión (Stable Diffusion XL) genera una versión “perfecta”</a:t>
            </a:r>
            <a:br>
              <a:rPr sz="4000"/>
            </a:br>
            <a:br>
              <a:rPr sz="4000"/>
            </a:br>
            <a:r>
              <a:rPr b="0" lang="en-US" sz="4000" spc="-1" strike="noStrike">
                <a:solidFill>
                  <a:srgbClr val="e6e6e6"/>
                </a:solidFill>
                <a:latin typeface="Segoe UI"/>
              </a:rPr>
              <a:t>El sistema ajusta automáticamente las gaussianas para eliminar uniones visibles 🌊</a:t>
            </a:r>
            <a:br>
              <a:rPr sz="4000"/>
            </a:br>
            <a:br>
              <a:rPr sz="4000"/>
            </a:br>
            <a:r>
              <a:rPr b="0" lang="en-US" sz="4000" spc="-1" strike="noStrike">
                <a:solidFill>
                  <a:srgbClr val="e6e6e6"/>
                </a:solidFill>
                <a:latin typeface="Segoe UI"/>
              </a:rPr>
              <a:t>Resultado: transiciones naturales e imperceptibles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Box 1"/>
          <p:cNvSpPr/>
          <p:nvPr/>
        </p:nvSpPr>
        <p:spPr>
          <a:xfrm>
            <a:off x="457200" y="457200"/>
            <a:ext cx="82292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ffd700"/>
                </a:solidFill>
                <a:latin typeface="Calibri"/>
              </a:rPr>
              <a:t>Edición libre – Sin mallas ni UVs 🚫🕸️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TextBox 2"/>
          <p:cNvSpPr/>
          <p:nvPr/>
        </p:nvSpPr>
        <p:spPr>
          <a:xfrm>
            <a:off x="640080" y="1645920"/>
            <a:ext cx="10972440" cy="598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4320" rIns="90000" tIns="18288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4200" spc="-1" strike="noStrike">
                <a:solidFill>
                  <a:srgbClr val="e6e6e6"/>
                </a:solidFill>
                <a:latin typeface="Segoe UI"/>
              </a:rPr>
              <a:t>3DGS no necesita mallas, topología ni mapas UV</a:t>
            </a:r>
            <a:br>
              <a:rPr sz="4200"/>
            </a:br>
            <a:br>
              <a:rPr sz="4200"/>
            </a:br>
            <a:r>
              <a:rPr b="0" lang="en-US" sz="4200" spc="-1" strike="noStrike">
                <a:solidFill>
                  <a:srgbClr val="e6e6e6"/>
                </a:solidFill>
                <a:latin typeface="Segoe UI"/>
              </a:rPr>
              <a:t>Manipulación directa de la geometría → flujo creativo rápido y sin barreras técnicas</a:t>
            </a:r>
            <a:br>
              <a:rPr sz="4200"/>
            </a:br>
            <a:br>
              <a:rPr sz="4200"/>
            </a:br>
            <a:r>
              <a:rPr b="0" lang="en-US" sz="4200" spc="-1" strike="noStrike">
                <a:solidFill>
                  <a:srgbClr val="e6e6e6"/>
                </a:solidFill>
                <a:latin typeface="Segoe UI"/>
              </a:rPr>
              <a:t>Ideal para artistas que quieren centrarse en la creatividad, no en la tecnología 🧑‍🎨</a:t>
            </a:r>
            <a:endParaRPr b="0" lang="en-US" sz="4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Box 1"/>
          <p:cNvSpPr/>
          <p:nvPr/>
        </p:nvSpPr>
        <p:spPr>
          <a:xfrm>
            <a:off x="457200" y="457200"/>
            <a:ext cx="822924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ffd700"/>
                </a:solidFill>
                <a:latin typeface="Calibri"/>
              </a:rPr>
              <a:t>Resultados – Primer sistema completo del mundo 🥇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TextBox 2"/>
          <p:cNvSpPr/>
          <p:nvPr/>
        </p:nvSpPr>
        <p:spPr>
          <a:xfrm>
            <a:off x="640080" y="1645920"/>
            <a:ext cx="10972440" cy="598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4320" rIns="90000" tIns="18288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4200" spc="-1" strike="noStrike">
                <a:solidFill>
                  <a:srgbClr val="e6e6e6"/>
                </a:solidFill>
                <a:latin typeface="Segoe UI"/>
              </a:rPr>
              <a:t>• </a:t>
            </a:r>
            <a:r>
              <a:rPr b="0" lang="en-US" sz="4200" spc="-1" strike="noStrike">
                <a:solidFill>
                  <a:srgbClr val="e6e6e6"/>
                </a:solidFill>
                <a:latin typeface="Segoe UI"/>
              </a:rPr>
              <a:t>Edición interactiva de escenas reales (bosques, jardines, escenografía)</a:t>
            </a:r>
            <a:br>
              <a:rPr sz="4200"/>
            </a:br>
            <a:r>
              <a:rPr b="0" lang="en-US" sz="4200" spc="-1" strike="noStrike">
                <a:solidFill>
                  <a:srgbClr val="e6e6e6"/>
                </a:solidFill>
                <a:latin typeface="Segoe UI"/>
              </a:rPr>
              <a:t>• Todo corre en tiempo real en GPU (RTX 4090)</a:t>
            </a:r>
            <a:br>
              <a:rPr sz="4200"/>
            </a:br>
            <a:r>
              <a:rPr b="0" lang="en-US" sz="4200" spc="-1" strike="noStrike">
                <a:solidFill>
                  <a:srgbClr val="e6e6e6"/>
                </a:solidFill>
                <a:latin typeface="Segoe UI"/>
              </a:rPr>
              <a:t>• Artistas lo aprendieron en ~10 minutos ⏱️</a:t>
            </a:r>
            <a:br>
              <a:rPr sz="4200"/>
            </a:br>
            <a:br>
              <a:rPr sz="4200"/>
            </a:br>
            <a:r>
              <a:rPr b="0" lang="en-US" sz="4200" spc="-1" strike="noStrike">
                <a:solidFill>
                  <a:srgbClr val="e6e6e6"/>
                </a:solidFill>
                <a:latin typeface="Segoe UI"/>
              </a:rPr>
              <a:t>¡Algo que no existía antes en ninguna herramienta artística!</a:t>
            </a:r>
            <a:endParaRPr b="0" lang="en-US" sz="4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extBox 1"/>
          <p:cNvSpPr/>
          <p:nvPr/>
        </p:nvSpPr>
        <p:spPr>
          <a:xfrm>
            <a:off x="457200" y="457200"/>
            <a:ext cx="82292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ffd700"/>
                </a:solidFill>
                <a:latin typeface="Calibri"/>
              </a:rPr>
              <a:t>Ejes clave que lo hacen mágico ✨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TextBox 2"/>
          <p:cNvSpPr/>
          <p:nvPr/>
        </p:nvSpPr>
        <p:spPr>
          <a:xfrm>
            <a:off x="640080" y="1645920"/>
            <a:ext cx="10972440" cy="470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4320" rIns="90000" tIns="18288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4200" spc="-1" strike="noStrike">
                <a:solidFill>
                  <a:srgbClr val="e6e6e6"/>
                </a:solidFill>
                <a:latin typeface="Segoe UI"/>
              </a:rPr>
              <a:t>1. Deformación no rígida del sello → se adapta perfectamente a curvas y superficies 🌀</a:t>
            </a:r>
            <a:br>
              <a:rPr sz="4200"/>
            </a:br>
            <a:r>
              <a:rPr b="0" lang="en-US" sz="4200" spc="-1" strike="noStrike">
                <a:solidFill>
                  <a:srgbClr val="e6e6e6"/>
                </a:solidFill>
                <a:latin typeface="Segoe UI"/>
              </a:rPr>
              <a:t>2. Inpainting inteligente → elimina costuras automáticamente</a:t>
            </a:r>
            <a:br>
              <a:rPr sz="4200"/>
            </a:br>
            <a:r>
              <a:rPr b="0" lang="en-US" sz="4200" spc="-1" strike="noStrike">
                <a:solidFill>
                  <a:srgbClr val="e6e6e6"/>
                </a:solidFill>
                <a:latin typeface="Segoe UI"/>
              </a:rPr>
              <a:t>3. Edición directa de geometría + apariencia real</a:t>
            </a:r>
            <a:endParaRPr b="0" lang="en-US" sz="4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Box 1"/>
          <p:cNvSpPr/>
          <p:nvPr/>
        </p:nvSpPr>
        <p:spPr>
          <a:xfrm>
            <a:off x="457200" y="457200"/>
            <a:ext cx="82292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ffd700"/>
                </a:solidFill>
                <a:latin typeface="Calibri"/>
              </a:rPr>
              <a:t>Nuevo paradigma en creación 3D 🌅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TextBox 2"/>
          <p:cNvSpPr/>
          <p:nvPr/>
        </p:nvSpPr>
        <p:spPr>
          <a:xfrm>
            <a:off x="640080" y="1645920"/>
            <a:ext cx="10972440" cy="534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4320" rIns="90000" tIns="18288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4200" spc="-1" strike="noStrike">
                <a:solidFill>
                  <a:srgbClr val="e6e6e6"/>
                </a:solidFill>
                <a:latin typeface="Segoe UI"/>
              </a:rPr>
              <a:t>Ya no pintas solo texturas 2D…</a:t>
            </a:r>
            <a:br>
              <a:rPr sz="4200"/>
            </a:br>
            <a:br>
              <a:rPr sz="4200"/>
            </a:br>
            <a:r>
              <a:rPr b="0" lang="en-US" sz="4200" spc="-1" strike="noStrike">
                <a:solidFill>
                  <a:srgbClr val="e6e6e6"/>
                </a:solidFill>
                <a:latin typeface="Segoe UI"/>
              </a:rPr>
              <a:t>¡Pintas con **textura + geometría real** como si fuera un pincel!</a:t>
            </a:r>
            <a:br>
              <a:rPr sz="4200"/>
            </a:br>
            <a:br>
              <a:rPr sz="4200"/>
            </a:br>
            <a:r>
              <a:rPr b="0" lang="en-US" sz="4200" spc="-1" strike="noStrike">
                <a:solidFill>
                  <a:srgbClr val="e6e6e6"/>
                </a:solidFill>
                <a:latin typeface="Segoe UI"/>
              </a:rPr>
              <a:t>Aplicaciones inmediatas:</a:t>
            </a:r>
            <a:br>
              <a:rPr sz="4200"/>
            </a:br>
            <a:r>
              <a:rPr b="0" lang="en-US" sz="4200" spc="-1" strike="noStrike">
                <a:solidFill>
                  <a:srgbClr val="e6e6e6"/>
                </a:solidFill>
                <a:latin typeface="Segoe UI"/>
              </a:rPr>
              <a:t>• Cine • Videojuegos • Animación • Realidad virtual 🎬🎮</a:t>
            </a:r>
            <a:endParaRPr b="0" lang="en-US" sz="4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Box 1"/>
          <p:cNvSpPr/>
          <p:nvPr/>
        </p:nvSpPr>
        <p:spPr>
          <a:xfrm>
            <a:off x="457200" y="457200"/>
            <a:ext cx="82292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ffd700"/>
                </a:solidFill>
                <a:latin typeface="Calibri"/>
              </a:rPr>
              <a:t>Futuro y conclusiones 🔮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TextBox 2"/>
          <p:cNvSpPr/>
          <p:nvPr/>
        </p:nvSpPr>
        <p:spPr>
          <a:xfrm>
            <a:off x="1143360" y="1144080"/>
            <a:ext cx="10972440" cy="66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4320" rIns="90000" tIns="18288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4200" spc="-1" strike="noStrike">
                <a:solidFill>
                  <a:srgbClr val="e6e6e6"/>
                </a:solidFill>
                <a:latin typeface="Segoe UI"/>
              </a:rPr>
              <a:t>• </a:t>
            </a:r>
            <a:r>
              <a:rPr b="0" lang="en-US" sz="4200" spc="-1" strike="noStrike">
                <a:solidFill>
                  <a:srgbClr val="e6e6e6"/>
                </a:solidFill>
                <a:latin typeface="Segoe UI"/>
              </a:rPr>
              <a:t>Base sólida para herramientas futuras de pintura semántica</a:t>
            </a:r>
            <a:br>
              <a:rPr sz="4200"/>
            </a:br>
            <a:r>
              <a:rPr b="0" lang="en-US" sz="4200" spc="-1" strike="noStrike">
                <a:solidFill>
                  <a:srgbClr val="e6e6e6"/>
                </a:solidFill>
                <a:latin typeface="Segoe UI"/>
              </a:rPr>
              <a:t>• Posible mezcla inteligente de materiales reales</a:t>
            </a:r>
            <a:br>
              <a:rPr sz="4200"/>
            </a:br>
            <a:br>
              <a:rPr sz="4200"/>
            </a:br>
            <a:r>
              <a:rPr b="0" lang="en-US" sz="4200" spc="-1" strike="noStrike">
                <a:solidFill>
                  <a:srgbClr val="e6e6e6"/>
                </a:solidFill>
                <a:latin typeface="Segoe UI"/>
              </a:rPr>
              <a:t>Limitación actual: iluminación estática (se está trabajando en relightning)</a:t>
            </a:r>
            <a:br>
              <a:rPr sz="4200"/>
            </a:br>
            <a:br>
              <a:rPr sz="4200"/>
            </a:br>
            <a:r>
              <a:rPr b="0" lang="en-US" sz="4200" spc="-1" strike="noStrike">
                <a:solidFill>
                  <a:srgbClr val="e6e6e6"/>
                </a:solidFill>
                <a:latin typeface="Segoe UI"/>
              </a:rPr>
              <a:t>¡Un nuevo medio artístico 3D acaba de nacer! 🚀</a:t>
            </a:r>
            <a:endParaRPr b="0" lang="en-US" sz="4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Box 1"/>
          <p:cNvSpPr/>
          <p:nvPr/>
        </p:nvSpPr>
        <p:spPr>
          <a:xfrm>
            <a:off x="457200" y="457200"/>
            <a:ext cx="82292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ffd700"/>
                </a:solidFill>
                <a:latin typeface="Calibri"/>
              </a:rPr>
              <a:t>Deformación no rígida del sello 🌀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TextBox 2"/>
          <p:cNvSpPr/>
          <p:nvPr/>
        </p:nvSpPr>
        <p:spPr>
          <a:xfrm>
            <a:off x="640080" y="1645920"/>
            <a:ext cx="10972440" cy="598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4320" rIns="90000" tIns="18288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4200" spc="-1" strike="noStrike">
                <a:solidFill>
                  <a:srgbClr val="e6e6e6"/>
                </a:solidFill>
                <a:latin typeface="Segoe UI"/>
              </a:rPr>
              <a:t>Problema: un sello grande no sigue bien una curva</a:t>
            </a:r>
            <a:br>
              <a:rPr sz="4200"/>
            </a:br>
            <a:br>
              <a:rPr sz="4200"/>
            </a:br>
            <a:r>
              <a:rPr b="0" lang="en-US" sz="4200" spc="-1" strike="noStrike">
                <a:solidFill>
                  <a:srgbClr val="e6e6e6"/>
                </a:solidFill>
                <a:latin typeface="Segoe UI"/>
              </a:rPr>
              <a:t>Solución: deformación tipo “ribbon” que sigue el trazo</a:t>
            </a:r>
            <a:br>
              <a:rPr sz="4200"/>
            </a:br>
            <a:br>
              <a:rPr sz="4200"/>
            </a:br>
            <a:r>
              <a:rPr b="0" lang="en-US" sz="4200" spc="-1" strike="noStrike">
                <a:solidFill>
                  <a:srgbClr val="e6e6e6"/>
                </a:solidFill>
                <a:latin typeface="Segoe UI"/>
              </a:rPr>
              <a:t>Cada gaussiana se transforma usando el marco local de la curva en su nueva posición</a:t>
            </a:r>
            <a:endParaRPr b="0" lang="en-US" sz="4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Box 1"/>
          <p:cNvSpPr/>
          <p:nvPr/>
        </p:nvSpPr>
        <p:spPr>
          <a:xfrm>
            <a:off x="457200" y="457200"/>
            <a:ext cx="82292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ffd700"/>
                </a:solidFill>
                <a:latin typeface="Calibri"/>
              </a:rPr>
              <a:t>Marco local del sello y de la curva 🧭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Box 2"/>
          <p:cNvSpPr/>
          <p:nvPr/>
        </p:nvSpPr>
        <p:spPr>
          <a:xfrm>
            <a:off x="640080" y="1645920"/>
            <a:ext cx="10972440" cy="406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4320" rIns="90000" tIns="18288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4200" spc="-1" strike="noStrike">
                <a:solidFill>
                  <a:srgbClr val="e6e6e6"/>
                </a:solidFill>
                <a:latin typeface="Segoe UI"/>
              </a:rPr>
              <a:t>Sello original → marco propio:</a:t>
            </a:r>
            <a:br>
              <a:rPr sz="4200"/>
            </a:br>
            <a:r>
              <a:rPr b="0" lang="en-US" sz="4200" spc="-1" strike="noStrike">
                <a:solidFill>
                  <a:srgbClr val="e6e6e6"/>
                </a:solidFill>
                <a:latin typeface="Segoe UI"/>
              </a:rPr>
              <a:t>- t_B (tangente), b_B (binormal), n_B (normal)</a:t>
            </a:r>
            <a:br>
              <a:rPr sz="4200"/>
            </a:br>
            <a:br>
              <a:rPr sz="4200"/>
            </a:br>
            <a:r>
              <a:rPr b="0" lang="en-US" sz="4200" spc="-1" strike="noStrike">
                <a:solidFill>
                  <a:srgbClr val="e6e6e6"/>
                </a:solidFill>
                <a:latin typeface="Segoe UI"/>
              </a:rPr>
              <a:t>Curva del trazo (spline) → marco variable:</a:t>
            </a:r>
            <a:br>
              <a:rPr sz="4200"/>
            </a:br>
            <a:r>
              <a:rPr b="0" lang="en-US" sz="4200" spc="-1" strike="noStrike">
                <a:solidFill>
                  <a:srgbClr val="e6e6e6"/>
                </a:solidFill>
                <a:latin typeface="Segoe UI"/>
              </a:rPr>
              <a:t>- t_S(a), b_S(a), n_S(a) en cada parámetro a</a:t>
            </a:r>
            <a:endParaRPr b="0" lang="en-US" sz="4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584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TextBox 1"/>
          <p:cNvSpPr/>
          <p:nvPr/>
        </p:nvSpPr>
        <p:spPr>
          <a:xfrm>
            <a:off x="457200" y="457200"/>
            <a:ext cx="82292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ffd700"/>
                </a:solidFill>
                <a:latin typeface="Calibri"/>
              </a:rPr>
              <a:t>Fórmula de deformación 📐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TextBox 2"/>
          <p:cNvSpPr/>
          <p:nvPr/>
        </p:nvSpPr>
        <p:spPr>
          <a:xfrm>
            <a:off x="640080" y="1645920"/>
            <a:ext cx="10972440" cy="31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4320" rIns="90000" tIns="18288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3200" spc="-1" strike="noStrike">
                <a:solidFill>
                  <a:srgbClr val="000000"/>
                </a:solidFill>
                <a:latin typeface="Segoe UI"/>
              </a:rPr>
              <a:t>Sea una gaussiana en coordenadas locales del sello: (x, y, z)</a:t>
            </a:r>
            <a:br>
              <a:rPr sz="3200"/>
            </a:br>
            <a:br>
              <a:rPr sz="3200"/>
            </a:br>
            <a:r>
              <a:rPr b="0" lang="en-US" sz="3200" spc="-1" strike="noStrike">
                <a:solidFill>
                  <a:srgbClr val="000000"/>
                </a:solidFill>
                <a:latin typeface="Segoe UI"/>
              </a:rPr>
              <a:t>Posición deformada:</a:t>
            </a:r>
            <a:br>
              <a:rPr sz="3200"/>
            </a:br>
            <a:br>
              <a:rPr sz="3200"/>
            </a:br>
            <a:r>
              <a:rPr b="0" lang="en-US" sz="3200" spc="-1" strike="noStrike">
                <a:solidFill>
                  <a:srgbClr val="000000"/>
                </a:solidFill>
                <a:latin typeface="Segoe UI"/>
              </a:rPr>
              <a:t>Donde S(a) es el punto central de la curva.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5" name="Picture 3" descr="image.png"/>
          <p:cNvPicPr/>
          <p:nvPr/>
        </p:nvPicPr>
        <p:blipFill>
          <a:blip r:embed="rId1"/>
          <a:stretch/>
        </p:blipFill>
        <p:spPr>
          <a:xfrm>
            <a:off x="914400" y="4846680"/>
            <a:ext cx="11795040" cy="2011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584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extBox 1"/>
          <p:cNvSpPr/>
          <p:nvPr/>
        </p:nvSpPr>
        <p:spPr>
          <a:xfrm>
            <a:off x="457200" y="457200"/>
            <a:ext cx="1257300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5400" spc="-1" strike="noStrike">
                <a:solidFill>
                  <a:srgbClr val="ffd700"/>
                </a:solidFill>
                <a:latin typeface="Calibri"/>
              </a:rPr>
              <a:t>Reorientación de la gaussiana 🔄</a:t>
            </a:r>
            <a:endParaRPr b="0" lang="en-US" sz="5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TextBox 2"/>
          <p:cNvSpPr/>
          <p:nvPr/>
        </p:nvSpPr>
        <p:spPr>
          <a:xfrm>
            <a:off x="640080" y="1645920"/>
            <a:ext cx="10972440" cy="327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4320" rIns="90000" tIns="18288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4000" spc="-1" strike="noStrike">
                <a:solidFill>
                  <a:srgbClr val="000000"/>
                </a:solidFill>
                <a:latin typeface="Segoe UI"/>
              </a:rPr>
              <a:t>La rotación original (t_B, n_B, b_B) se reemplaza por:</a:t>
            </a:r>
            <a:br>
              <a:rPr sz="4000"/>
            </a:br>
            <a:br>
              <a:rPr sz="4000"/>
            </a:br>
            <a:r>
              <a:rPr b="0" lang="en-US" sz="4000" spc="-1" strike="noStrike">
                <a:solidFill>
                  <a:srgbClr val="000000"/>
                </a:solidFill>
                <a:latin typeface="Segoe UI"/>
              </a:rPr>
              <a:t>→ El fragmento gira y se adapta perfectamente al trazo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8" name="Picture 3" descr="image.png"/>
          <p:cNvPicPr/>
          <p:nvPr/>
        </p:nvPicPr>
        <p:blipFill>
          <a:blip r:embed="rId1"/>
          <a:stretch/>
        </p:blipFill>
        <p:spPr>
          <a:xfrm>
            <a:off x="777600" y="5527800"/>
            <a:ext cx="13167000" cy="2244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extBox 1"/>
          <p:cNvSpPr/>
          <p:nvPr/>
        </p:nvSpPr>
        <p:spPr>
          <a:xfrm>
            <a:off x="457200" y="457200"/>
            <a:ext cx="1257300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5400" spc="-1" strike="noStrike">
                <a:solidFill>
                  <a:srgbClr val="ffd700"/>
                </a:solidFill>
                <a:latin typeface="Calibri"/>
              </a:rPr>
              <a:t>Inpainting – Detección de costuras 🔍</a:t>
            </a:r>
            <a:endParaRPr b="0" lang="en-US" sz="5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TextBox 2"/>
          <p:cNvSpPr/>
          <p:nvPr/>
        </p:nvSpPr>
        <p:spPr>
          <a:xfrm>
            <a:off x="640080" y="1645920"/>
            <a:ext cx="10972440" cy="510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4320" rIns="90000" tIns="18288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4000" spc="-1" strike="noStrike">
                <a:solidFill>
                  <a:srgbClr val="e6e6e6"/>
                </a:solidFill>
                <a:latin typeface="Segoe UI"/>
              </a:rPr>
              <a:t>Se renderizan máscaras desde vistas ortogonales (normal y binormal)</a:t>
            </a:r>
            <a:br>
              <a:rPr sz="4000"/>
            </a:br>
            <a:br>
              <a:rPr sz="4000"/>
            </a:br>
            <a:r>
              <a:rPr b="0" lang="en-US" sz="4000" spc="-1" strike="noStrike">
                <a:solidFill>
                  <a:srgbClr val="e6e6e6"/>
                </a:solidFill>
                <a:latin typeface="Segoe UI"/>
              </a:rPr>
              <a:t>Intersección de máscaras → gaussianas en zona de solapamiento</a:t>
            </a:r>
            <a:br>
              <a:rPr sz="4000"/>
            </a:br>
            <a:br>
              <a:rPr sz="4000"/>
            </a:br>
            <a:r>
              <a:rPr b="0" lang="en-US" sz="4000" spc="-1" strike="noStrike">
                <a:solidFill>
                  <a:srgbClr val="e6e6e6"/>
                </a:solidFill>
                <a:latin typeface="Segoe UI"/>
              </a:rPr>
              <a:t>Solo se corrigen las que están en regiones superpuestas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Box 1"/>
          <p:cNvSpPr/>
          <p:nvPr/>
        </p:nvSpPr>
        <p:spPr>
          <a:xfrm>
            <a:off x="457200" y="457200"/>
            <a:ext cx="1120140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5400" spc="-1" strike="noStrike">
                <a:solidFill>
                  <a:srgbClr val="ffd700"/>
                </a:solidFill>
                <a:latin typeface="Calibri"/>
              </a:rPr>
              <a:t>Proceso de inpainting (3 pasos)</a:t>
            </a:r>
            <a:endParaRPr b="0" lang="en-US" sz="5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TextBox 2"/>
          <p:cNvSpPr/>
          <p:nvPr/>
        </p:nvSpPr>
        <p:spPr>
          <a:xfrm>
            <a:off x="640080" y="1645920"/>
            <a:ext cx="10972440" cy="342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4320" rIns="90000" tIns="18288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4200" spc="-1" strike="noStrike">
                <a:solidFill>
                  <a:srgbClr val="e6e6e6"/>
                </a:solidFill>
                <a:latin typeface="Segoe UI"/>
              </a:rPr>
              <a:t>1. Render original → I_render</a:t>
            </a:r>
            <a:br>
              <a:rPr sz="4200"/>
            </a:br>
            <a:r>
              <a:rPr b="0" lang="en-US" sz="4200" spc="-1" strike="noStrike">
                <a:solidFill>
                  <a:srgbClr val="e6e6e6"/>
                </a:solidFill>
                <a:latin typeface="Segoe UI"/>
              </a:rPr>
              <a:t>2. Modelo de difusión genera versión limpia → I_inpaint (SD-XL)</a:t>
            </a:r>
            <a:br>
              <a:rPr sz="4200"/>
            </a:br>
            <a:r>
              <a:rPr b="0" lang="en-US" sz="4200" spc="-1" strike="noStrike">
                <a:solidFill>
                  <a:srgbClr val="e6e6e6"/>
                </a:solidFill>
                <a:latin typeface="Segoe UI"/>
              </a:rPr>
              <a:t>3. Optimización de gaussianas para que coincidan con I_inpaint</a:t>
            </a:r>
            <a:endParaRPr b="0" lang="en-US" sz="4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584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Box 1"/>
          <p:cNvSpPr/>
          <p:nvPr/>
        </p:nvSpPr>
        <p:spPr>
          <a:xfrm>
            <a:off x="457200" y="457200"/>
            <a:ext cx="822924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5400" spc="-1" strike="noStrike">
                <a:solidFill>
                  <a:srgbClr val="ffd700"/>
                </a:solidFill>
                <a:latin typeface="Calibri"/>
              </a:rPr>
              <a:t>Función de pérdida 🎨</a:t>
            </a:r>
            <a:endParaRPr b="0" lang="en-US" sz="5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TextBox 2"/>
          <p:cNvSpPr/>
          <p:nvPr/>
        </p:nvSpPr>
        <p:spPr>
          <a:xfrm>
            <a:off x="640080" y="1645920"/>
            <a:ext cx="109724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4320" rIns="90000" tIns="18288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2200" spc="-1" strike="noStrike">
              <a:solidFill>
                <a:srgbClr val="e6e6e6"/>
              </a:solidFill>
              <a:latin typeface="Segoe UI"/>
            </a:endParaRPr>
          </a:p>
        </p:txBody>
      </p:sp>
      <p:pic>
        <p:nvPicPr>
          <p:cNvPr id="105" name="Picture 3" descr="image.png"/>
          <p:cNvPicPr/>
          <p:nvPr/>
        </p:nvPicPr>
        <p:blipFill>
          <a:blip r:embed="rId1"/>
          <a:stretch/>
        </p:blipFill>
        <p:spPr>
          <a:xfrm>
            <a:off x="228600" y="2935800"/>
            <a:ext cx="14173200" cy="1636200"/>
          </a:xfrm>
          <a:prstGeom prst="rect">
            <a:avLst/>
          </a:prstGeom>
          <a:ln w="0">
            <a:noFill/>
          </a:ln>
        </p:spPr>
      </p:pic>
      <p:pic>
        <p:nvPicPr>
          <p:cNvPr id="106" name="Picture 4" descr="image.png"/>
          <p:cNvPicPr/>
          <p:nvPr/>
        </p:nvPicPr>
        <p:blipFill>
          <a:blip r:embed="rId2"/>
          <a:stretch/>
        </p:blipFill>
        <p:spPr>
          <a:xfrm>
            <a:off x="914400" y="4572000"/>
            <a:ext cx="11795040" cy="2011320"/>
          </a:xfrm>
          <a:prstGeom prst="rect">
            <a:avLst/>
          </a:prstGeom>
          <a:ln w="0">
            <a:noFill/>
          </a:ln>
        </p:spPr>
      </p:pic>
      <p:pic>
        <p:nvPicPr>
          <p:cNvPr id="107" name="Picture 5" descr="image.png"/>
          <p:cNvPicPr/>
          <p:nvPr/>
        </p:nvPicPr>
        <p:blipFill>
          <a:blip r:embed="rId3"/>
          <a:stretch/>
        </p:blipFill>
        <p:spPr>
          <a:xfrm>
            <a:off x="914400" y="6217920"/>
            <a:ext cx="11795040" cy="2011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Box 1"/>
          <p:cNvSpPr/>
          <p:nvPr/>
        </p:nvSpPr>
        <p:spPr>
          <a:xfrm>
            <a:off x="457200" y="457200"/>
            <a:ext cx="1303020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5400" spc="-1" strike="noStrike">
                <a:solidFill>
                  <a:srgbClr val="ffd700"/>
                </a:solidFill>
                <a:latin typeface="Calibri"/>
              </a:rPr>
              <a:t>Resultado final del inpainting ✨</a:t>
            </a:r>
            <a:endParaRPr b="0" lang="en-US" sz="5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TextBox 2"/>
          <p:cNvSpPr/>
          <p:nvPr/>
        </p:nvSpPr>
        <p:spPr>
          <a:xfrm>
            <a:off x="640080" y="1645920"/>
            <a:ext cx="10972440" cy="470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4320" rIns="90000" tIns="18288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4200" spc="-1" strike="noStrike">
                <a:solidFill>
                  <a:srgbClr val="e6e6e6"/>
                </a:solidFill>
                <a:latin typeface="Segoe UI"/>
              </a:rPr>
              <a:t>Transiciones suaves y realistas entre sellos</a:t>
            </a:r>
            <a:br>
              <a:rPr sz="4200"/>
            </a:br>
            <a:br>
              <a:rPr sz="4200"/>
            </a:br>
            <a:r>
              <a:rPr b="0" lang="en-US" sz="4200" spc="-1" strike="noStrike">
                <a:solidFill>
                  <a:srgbClr val="e6e6e6"/>
                </a:solidFill>
                <a:latin typeface="Segoe UI"/>
              </a:rPr>
              <a:t>Preserva la esencia del material original</a:t>
            </a:r>
            <a:br>
              <a:rPr sz="4200"/>
            </a:br>
            <a:br>
              <a:rPr sz="4200"/>
            </a:br>
            <a:r>
              <a:rPr b="0" lang="en-US" sz="4200" spc="-1" strike="noStrike">
                <a:solidFill>
                  <a:srgbClr val="e6e6e6"/>
                </a:solidFill>
                <a:latin typeface="Segoe UI"/>
              </a:rPr>
              <a:t>Todo automático → el artista solo pinta, el sistema “limpia” por él</a:t>
            </a:r>
            <a:endParaRPr b="0" lang="en-US" sz="4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2025-12-09T07:35:01Z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